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3"/>
  </p:notesMasterIdLst>
  <p:sldIdLst>
    <p:sldId id="256" r:id="rId2"/>
    <p:sldId id="258" r:id="rId3"/>
    <p:sldId id="260" r:id="rId4"/>
    <p:sldId id="261" r:id="rId5"/>
    <p:sldId id="259" r:id="rId6"/>
    <p:sldId id="262" r:id="rId7"/>
    <p:sldId id="263" r:id="rId8"/>
    <p:sldId id="264" r:id="rId9"/>
    <p:sldId id="267" r:id="rId10"/>
    <p:sldId id="269" r:id="rId11"/>
    <p:sldId id="268" r:id="rId12"/>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9" roundtripDataSignature="AMtx7mjbkTDq+W8thq2uSfbQpSh0VYH+A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83" autoAdjust="0"/>
    <p:restoredTop sz="94660"/>
  </p:normalViewPr>
  <p:slideViewPr>
    <p:cSldViewPr snapToGrid="0">
      <p:cViewPr varScale="1">
        <p:scale>
          <a:sx n="84" d="100"/>
          <a:sy n="84" d="100"/>
        </p:scale>
        <p:origin x="1416"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23" Type="http://schemas.openxmlformats.org/officeDocument/2006/relationships/tableStyles" Target="tableStyles.xml"/><Relationship Id="rId10" Type="http://schemas.openxmlformats.org/officeDocument/2006/relationships/slide" Target="slides/slide9.xml"/><Relationship Id="rId19"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 name="Google Shape;9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 name="Google Shape;119;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6" name="Google Shape;126;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3" name="Google Shape;133;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0" name="Google Shape;140;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1" name="Google Shape;161;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a:extLst>
            <a:ext uri="{FF2B5EF4-FFF2-40B4-BE49-F238E27FC236}">
              <a16:creationId xmlns:a16="http://schemas.microsoft.com/office/drawing/2014/main" id="{8DB93B29-BCF6-1D0E-4296-DDB6090633F1}"/>
            </a:ext>
          </a:extLst>
        </p:cNvPr>
        <p:cNvGrpSpPr/>
        <p:nvPr/>
      </p:nvGrpSpPr>
      <p:grpSpPr>
        <a:xfrm>
          <a:off x="0" y="0"/>
          <a:ext cx="0" cy="0"/>
          <a:chOff x="0" y="0"/>
          <a:chExt cx="0" cy="0"/>
        </a:xfrm>
      </p:grpSpPr>
      <p:sp>
        <p:nvSpPr>
          <p:cNvPr id="160" name="Google Shape;160;p12:notes">
            <a:extLst>
              <a:ext uri="{FF2B5EF4-FFF2-40B4-BE49-F238E27FC236}">
                <a16:creationId xmlns:a16="http://schemas.microsoft.com/office/drawing/2014/main" id="{F8AAD840-8B65-EE40-4FA8-881C2EC38FB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1" name="Google Shape;161;p12:notes">
            <a:extLst>
              <a:ext uri="{FF2B5EF4-FFF2-40B4-BE49-F238E27FC236}">
                <a16:creationId xmlns:a16="http://schemas.microsoft.com/office/drawing/2014/main" id="{FD35E28C-762C-DBC4-36D1-463AC72E8FDB}"/>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236105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8" name="Google Shape;168;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15"/>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15"/>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4" name="Google Shape;14;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1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0" name="Google Shape;20;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17"/>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17"/>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26" name="Google Shape;26;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18"/>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2" name="Google Shape;32;p18"/>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3" name="Google Shape;33;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19"/>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39" name="Google Shape;39;p19"/>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0" name="Google Shape;40;p19"/>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1" name="Google Shape;41;p19"/>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2" name="Google Shape;42;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2"/>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2"/>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22"/>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3"/>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3"/>
          <p:cNvSpPr>
            <a:spLocks noGrp="1"/>
          </p:cNvSpPr>
          <p:nvPr>
            <p:ph type="pic" idx="2"/>
          </p:nvPr>
        </p:nvSpPr>
        <p:spPr>
          <a:xfrm>
            <a:off x="1792288" y="612775"/>
            <a:ext cx="5486400" cy="4114800"/>
          </a:xfrm>
          <a:prstGeom prst="rect">
            <a:avLst/>
          </a:prstGeom>
          <a:noFill/>
          <a:ln>
            <a:noFill/>
          </a:ln>
        </p:spPr>
      </p:sp>
      <p:sp>
        <p:nvSpPr>
          <p:cNvPr id="64" name="Google Shape;64;p23"/>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2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4"/>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2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5"/>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5"/>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2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p:nvPr/>
        </p:nvSpPr>
        <p:spPr>
          <a:xfrm>
            <a:off x="755576" y="1700808"/>
            <a:ext cx="7848872" cy="1600438"/>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1600" b="1" i="0" u="none" strike="noStrike" cap="none" dirty="0">
                <a:solidFill>
                  <a:srgbClr val="002060"/>
                </a:solidFill>
                <a:latin typeface="Times New Roman"/>
                <a:ea typeface="Times New Roman"/>
                <a:cs typeface="Times New Roman"/>
                <a:sym typeface="Times New Roman"/>
              </a:rPr>
              <a:t>DIVISION OF ARTICIAL SCIENCE AND ENGINEERING</a:t>
            </a:r>
            <a:endParaRPr dirty="0"/>
          </a:p>
          <a:p>
            <a:pPr marL="0" marR="0" lvl="0" indent="0" algn="ctr" rtl="0">
              <a:spcBef>
                <a:spcPts val="0"/>
              </a:spcBef>
              <a:spcAft>
                <a:spcPts val="0"/>
              </a:spcAft>
              <a:buNone/>
            </a:pPr>
            <a:r>
              <a:rPr lang="en-IN" sz="1400" b="1" i="0" u="none" strike="noStrike" cap="none" dirty="0">
                <a:solidFill>
                  <a:srgbClr val="C00000"/>
                </a:solidFill>
                <a:latin typeface="Times New Roman"/>
                <a:ea typeface="Times New Roman"/>
                <a:cs typeface="Times New Roman"/>
                <a:sym typeface="Times New Roman"/>
              </a:rPr>
              <a:t>SCHOOL OF COMPUTER SCIENCE AND TECHNOLOGY </a:t>
            </a:r>
            <a:endParaRPr dirty="0"/>
          </a:p>
          <a:p>
            <a:pPr marL="0" marR="0" lvl="0" indent="0" algn="ctr" rtl="0">
              <a:spcBef>
                <a:spcPts val="0"/>
              </a:spcBef>
              <a:spcAft>
                <a:spcPts val="0"/>
              </a:spcAft>
              <a:buNone/>
            </a:pPr>
            <a:r>
              <a:rPr lang="en-IN" sz="1600" b="1" i="0" u="none" strike="noStrike" cap="none" dirty="0">
                <a:solidFill>
                  <a:srgbClr val="7030A0"/>
                </a:solidFill>
                <a:latin typeface="Times New Roman"/>
                <a:ea typeface="Times New Roman"/>
                <a:cs typeface="Times New Roman"/>
                <a:sym typeface="Times New Roman"/>
              </a:rPr>
              <a:t>22AI2999 PROJECT</a:t>
            </a:r>
            <a:endParaRPr dirty="0"/>
          </a:p>
          <a:p>
            <a:pPr marL="0" marR="0" lvl="0" indent="0" algn="ctr" rtl="0">
              <a:spcBef>
                <a:spcPts val="0"/>
              </a:spcBef>
              <a:spcAft>
                <a:spcPts val="0"/>
              </a:spcAft>
              <a:buNone/>
            </a:pPr>
            <a:r>
              <a:rPr lang="en-IN" sz="1600" b="1" i="0" u="none" strike="noStrike" cap="none" dirty="0">
                <a:solidFill>
                  <a:schemeClr val="dk1"/>
                </a:solidFill>
                <a:latin typeface="Times New Roman"/>
                <a:ea typeface="Times New Roman"/>
                <a:cs typeface="Times New Roman"/>
                <a:sym typeface="Times New Roman"/>
              </a:rPr>
              <a:t>EVEN SEMESTER 2025-2026 </a:t>
            </a:r>
            <a:endParaRPr dirty="0"/>
          </a:p>
          <a:p>
            <a:pPr marL="0" marR="0" lvl="0" indent="0" algn="ctr" rtl="0">
              <a:spcBef>
                <a:spcPts val="0"/>
              </a:spcBef>
              <a:spcAft>
                <a:spcPts val="0"/>
              </a:spcAft>
              <a:buNone/>
            </a:pPr>
            <a:r>
              <a:rPr lang="en-IN" sz="1600" b="1" dirty="0">
                <a:solidFill>
                  <a:schemeClr val="dk1"/>
                </a:solidFill>
                <a:latin typeface="Times New Roman"/>
                <a:ea typeface="Times New Roman"/>
                <a:cs typeface="Times New Roman"/>
                <a:sym typeface="Times New Roman"/>
              </a:rPr>
              <a:t>FINAL</a:t>
            </a:r>
            <a:r>
              <a:rPr lang="en-IN" sz="1600" b="1" i="0" u="none" strike="noStrike" cap="none" dirty="0">
                <a:solidFill>
                  <a:schemeClr val="dk1"/>
                </a:solidFill>
                <a:latin typeface="Times New Roman"/>
                <a:ea typeface="Times New Roman"/>
                <a:cs typeface="Times New Roman"/>
                <a:sym typeface="Times New Roman"/>
              </a:rPr>
              <a:t> REVIEW- </a:t>
            </a:r>
            <a:r>
              <a:rPr lang="en-IN" sz="1600" b="1" dirty="0">
                <a:solidFill>
                  <a:schemeClr val="dk1"/>
                </a:solidFill>
                <a:latin typeface="Times New Roman"/>
                <a:ea typeface="Times New Roman"/>
                <a:cs typeface="Times New Roman"/>
                <a:sym typeface="Times New Roman"/>
              </a:rPr>
              <a:t>28</a:t>
            </a:r>
            <a:r>
              <a:rPr lang="en-IN" sz="1600" b="1" i="0" u="none" strike="noStrike" cap="none" dirty="0">
                <a:solidFill>
                  <a:schemeClr val="dk1"/>
                </a:solidFill>
                <a:latin typeface="Times New Roman"/>
                <a:ea typeface="Times New Roman"/>
                <a:cs typeface="Times New Roman"/>
                <a:sym typeface="Times New Roman"/>
              </a:rPr>
              <a:t>/</a:t>
            </a:r>
            <a:r>
              <a:rPr lang="en-IN" sz="1600" b="1" dirty="0">
                <a:solidFill>
                  <a:schemeClr val="dk1"/>
                </a:solidFill>
                <a:latin typeface="Times New Roman"/>
                <a:ea typeface="Times New Roman"/>
                <a:cs typeface="Times New Roman"/>
                <a:sym typeface="Times New Roman"/>
              </a:rPr>
              <a:t>04</a:t>
            </a:r>
            <a:r>
              <a:rPr lang="en-IN" sz="1600" b="1" i="0" u="none" strike="noStrike" cap="none" dirty="0">
                <a:solidFill>
                  <a:schemeClr val="dk1"/>
                </a:solidFill>
                <a:latin typeface="Times New Roman"/>
                <a:ea typeface="Times New Roman"/>
                <a:cs typeface="Times New Roman"/>
                <a:sym typeface="Times New Roman"/>
              </a:rPr>
              <a:t>/2026</a:t>
            </a:r>
            <a:endParaRPr sz="1600" b="0" i="0" u="none" strike="noStrike" cap="none" dirty="0">
              <a:solidFill>
                <a:schemeClr val="dk1"/>
              </a:solidFill>
              <a:latin typeface="Times New Roman"/>
              <a:ea typeface="Times New Roman"/>
              <a:cs typeface="Times New Roman"/>
              <a:sym typeface="Times New Roman"/>
            </a:endParaRPr>
          </a:p>
          <a:p>
            <a:pPr marL="0" marR="0" lvl="0" indent="0" algn="ctr" rtl="0">
              <a:spcBef>
                <a:spcPts val="0"/>
              </a:spcBef>
              <a:spcAft>
                <a:spcPts val="0"/>
              </a:spcAft>
              <a:buNone/>
            </a:pPr>
            <a:endParaRPr sz="1800" b="0" i="0" u="none" strike="noStrike" cap="none" dirty="0">
              <a:solidFill>
                <a:schemeClr val="dk1"/>
              </a:solidFill>
              <a:latin typeface="Calibri"/>
              <a:ea typeface="Calibri"/>
              <a:cs typeface="Calibri"/>
              <a:sym typeface="Calibri"/>
            </a:endParaRPr>
          </a:p>
        </p:txBody>
      </p:sp>
      <p:sp>
        <p:nvSpPr>
          <p:cNvPr id="85" name="Google Shape;85;p1"/>
          <p:cNvSpPr/>
          <p:nvPr/>
        </p:nvSpPr>
        <p:spPr>
          <a:xfrm>
            <a:off x="557808" y="3075057"/>
            <a:ext cx="7848872" cy="830956"/>
          </a:xfrm>
          <a:prstGeom prst="rect">
            <a:avLst/>
          </a:prstGeom>
          <a:noFill/>
          <a:ln>
            <a:noFill/>
          </a:ln>
        </p:spPr>
        <p:txBody>
          <a:bodyPr spcFirstLastPara="1" wrap="square" lIns="91425" tIns="45700" rIns="91425" bIns="45700" anchor="t" anchorCtr="0">
            <a:spAutoFit/>
          </a:bodyPr>
          <a:lstStyle/>
          <a:p>
            <a:pPr lvl="0"/>
            <a:r>
              <a:rPr lang="en-US" sz="2400" b="1" i="0" u="none" strike="noStrike" cap="none" dirty="0">
                <a:solidFill>
                  <a:schemeClr val="dk1"/>
                </a:solidFill>
                <a:latin typeface="Calibri"/>
                <a:ea typeface="Calibri"/>
                <a:cs typeface="Calibri"/>
                <a:sym typeface="Calibri"/>
              </a:rPr>
              <a:t>       PROMPT FIXER: An AI-based System for Improving and </a:t>
            </a:r>
          </a:p>
          <a:p>
            <a:pPr lvl="0"/>
            <a:r>
              <a:rPr lang="en-US" sz="2400" b="1" dirty="0">
                <a:solidFill>
                  <a:schemeClr val="dk1"/>
                </a:solidFill>
                <a:latin typeface="Calibri"/>
                <a:ea typeface="Calibri"/>
                <a:cs typeface="Calibri"/>
                <a:sym typeface="Calibri"/>
              </a:rPr>
              <a:t>               </a:t>
            </a:r>
            <a:r>
              <a:rPr lang="en-US" sz="2400" b="1" i="0" u="none" strike="noStrike" cap="none" dirty="0">
                <a:solidFill>
                  <a:schemeClr val="dk1"/>
                </a:solidFill>
                <a:latin typeface="Calibri"/>
                <a:ea typeface="Calibri"/>
                <a:cs typeface="Calibri"/>
                <a:sym typeface="Calibri"/>
              </a:rPr>
              <a:t>structuring User Prompts for Language Model</a:t>
            </a:r>
            <a:endParaRPr sz="2400" b="1" i="0" u="none" strike="noStrike" cap="none" dirty="0">
              <a:solidFill>
                <a:schemeClr val="dk1"/>
              </a:solidFill>
              <a:latin typeface="Calibri"/>
              <a:ea typeface="Calibri"/>
              <a:cs typeface="Calibri"/>
              <a:sym typeface="Calibri"/>
            </a:endParaRPr>
          </a:p>
        </p:txBody>
      </p:sp>
      <p:sp>
        <p:nvSpPr>
          <p:cNvPr id="86" name="Google Shape;86;p1"/>
          <p:cNvSpPr/>
          <p:nvPr/>
        </p:nvSpPr>
        <p:spPr>
          <a:xfrm>
            <a:off x="237360" y="4721352"/>
            <a:ext cx="3801240" cy="7386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1400" b="1" i="0" u="none" strike="noStrike" cap="none" dirty="0">
                <a:solidFill>
                  <a:schemeClr val="dk1"/>
                </a:solidFill>
                <a:latin typeface="Times New Roman"/>
                <a:ea typeface="Times New Roman"/>
                <a:cs typeface="Times New Roman"/>
                <a:sym typeface="Times New Roman"/>
              </a:rPr>
              <a:t>SUPERVISED BY:</a:t>
            </a:r>
            <a:endParaRPr sz="1400" b="1"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IN" b="1" dirty="0">
                <a:solidFill>
                  <a:schemeClr val="dk1"/>
                </a:solidFill>
                <a:latin typeface="Times New Roman"/>
                <a:cs typeface="Times New Roman"/>
                <a:sym typeface="Times New Roman"/>
              </a:rPr>
              <a:t>BRISO BECKY BELL J</a:t>
            </a:r>
            <a:endParaRPr dirty="0"/>
          </a:p>
          <a:p>
            <a:pPr marL="0" marR="0" lvl="0" indent="0" algn="l" rtl="0">
              <a:spcBef>
                <a:spcPts val="0"/>
              </a:spcBef>
              <a:spcAft>
                <a:spcPts val="0"/>
              </a:spcAft>
              <a:buNone/>
            </a:pPr>
            <a:r>
              <a:rPr lang="en-IN" sz="1400" b="1" dirty="0">
                <a:solidFill>
                  <a:schemeClr val="dk1"/>
                </a:solidFill>
                <a:latin typeface="Times New Roman"/>
                <a:ea typeface="Times New Roman"/>
                <a:cs typeface="Times New Roman"/>
                <a:sym typeface="Times New Roman"/>
              </a:rPr>
              <a:t>ASSITANT PROFESSOR</a:t>
            </a:r>
            <a:endParaRPr sz="1400" dirty="0">
              <a:solidFill>
                <a:schemeClr val="dk1"/>
              </a:solidFill>
              <a:latin typeface="Calibri"/>
              <a:ea typeface="Calibri"/>
              <a:cs typeface="Calibri"/>
              <a:sym typeface="Calibri"/>
            </a:endParaRPr>
          </a:p>
        </p:txBody>
      </p:sp>
      <p:sp>
        <p:nvSpPr>
          <p:cNvPr id="87" name="Google Shape;87;p1"/>
          <p:cNvSpPr/>
          <p:nvPr/>
        </p:nvSpPr>
        <p:spPr>
          <a:xfrm>
            <a:off x="4482244" y="4680158"/>
            <a:ext cx="4471628" cy="954067"/>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IN" sz="1400" b="1" dirty="0">
                <a:solidFill>
                  <a:schemeClr val="dk1"/>
                </a:solidFill>
                <a:latin typeface="Times New Roman"/>
                <a:ea typeface="Times New Roman"/>
                <a:cs typeface="Times New Roman"/>
                <a:sym typeface="Times New Roman"/>
              </a:rPr>
              <a:t>PRESENTED BY:</a:t>
            </a:r>
            <a:endParaRPr lang="en-IN" sz="1400" dirty="0">
              <a:ea typeface="Times New Roman"/>
            </a:endParaRPr>
          </a:p>
          <a:p>
            <a:pPr marL="0" marR="0" lvl="0" indent="0" algn="just" rtl="0">
              <a:spcBef>
                <a:spcPts val="0"/>
              </a:spcBef>
              <a:spcAft>
                <a:spcPts val="0"/>
              </a:spcAft>
              <a:buNone/>
            </a:pPr>
            <a:r>
              <a:rPr lang="en-IN" b="1" dirty="0">
                <a:solidFill>
                  <a:schemeClr val="dk1"/>
                </a:solidFill>
                <a:latin typeface="Times New Roman"/>
                <a:cs typeface="Times New Roman"/>
                <a:sym typeface="Times New Roman"/>
              </a:rPr>
              <a:t>MEDAMANOORI DHANUSH</a:t>
            </a:r>
          </a:p>
          <a:p>
            <a:pPr marL="0" marR="0" lvl="0" indent="0" algn="just" rtl="0">
              <a:spcBef>
                <a:spcPts val="0"/>
              </a:spcBef>
              <a:spcAft>
                <a:spcPts val="0"/>
              </a:spcAft>
              <a:buNone/>
            </a:pPr>
            <a:r>
              <a:rPr lang="en-IN" b="1" dirty="0">
                <a:solidFill>
                  <a:schemeClr val="dk1"/>
                </a:solidFill>
                <a:latin typeface="Times New Roman"/>
                <a:cs typeface="Times New Roman"/>
                <a:sym typeface="Times New Roman"/>
              </a:rPr>
              <a:t>URK22CS7062</a:t>
            </a:r>
            <a:endParaRPr dirty="0"/>
          </a:p>
          <a:p>
            <a:pPr marL="0" marR="0" lvl="0" indent="0" algn="just" rtl="0">
              <a:spcBef>
                <a:spcPts val="0"/>
              </a:spcBef>
              <a:spcAft>
                <a:spcPts val="0"/>
              </a:spcAft>
              <a:buNone/>
            </a:pPr>
            <a:endParaRPr sz="1400" b="1" dirty="0">
              <a:solidFill>
                <a:schemeClr val="dk1"/>
              </a:solidFill>
              <a:latin typeface="Times New Roman"/>
              <a:ea typeface="Times New Roman"/>
              <a:cs typeface="Times New Roman"/>
              <a:sym typeface="Times New Roman"/>
            </a:endParaRPr>
          </a:p>
        </p:txBody>
      </p:sp>
      <p:pic>
        <p:nvPicPr>
          <p:cNvPr id="88" name="Google Shape;88;p1" descr="Home | Karunya Institute of Technology and Sciences | NAAC A++ Accredited |  Best University"/>
          <p:cNvPicPr preferRelativeResize="0"/>
          <p:nvPr/>
        </p:nvPicPr>
        <p:blipFill rotWithShape="1">
          <a:blip r:embed="rId3">
            <a:alphaModFix/>
          </a:blip>
          <a:srcRect/>
          <a:stretch/>
        </p:blipFill>
        <p:spPr>
          <a:xfrm>
            <a:off x="728144" y="304800"/>
            <a:ext cx="7361064" cy="122684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pic>
        <p:nvPicPr>
          <p:cNvPr id="101" name="Google Shape;101;p3" descr="About Us | Karunya Institute of Technology and Sciences | NAAC A++  Accredited | Best University"/>
          <p:cNvPicPr preferRelativeResize="0"/>
          <p:nvPr/>
        </p:nvPicPr>
        <p:blipFill rotWithShape="1">
          <a:blip r:embed="rId3">
            <a:alphaModFix/>
          </a:blip>
          <a:srcRect/>
          <a:stretch/>
        </p:blipFill>
        <p:spPr>
          <a:xfrm>
            <a:off x="7696200" y="105471"/>
            <a:ext cx="1352756" cy="1289837"/>
          </a:xfrm>
          <a:prstGeom prst="rect">
            <a:avLst/>
          </a:prstGeom>
          <a:noFill/>
          <a:ln>
            <a:noFill/>
          </a:ln>
        </p:spPr>
      </p:pic>
      <p:sp>
        <p:nvSpPr>
          <p:cNvPr id="102" name="Google Shape;102;p3"/>
          <p:cNvSpPr/>
          <p:nvPr/>
        </p:nvSpPr>
        <p:spPr>
          <a:xfrm>
            <a:off x="533400" y="1015046"/>
            <a:ext cx="1863011"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400" b="1">
                <a:solidFill>
                  <a:schemeClr val="dk1"/>
                </a:solidFill>
                <a:latin typeface="Times New Roman"/>
                <a:ea typeface="Times New Roman"/>
                <a:cs typeface="Times New Roman"/>
                <a:sym typeface="Times New Roman"/>
              </a:rPr>
              <a:t>ABSTRACT</a:t>
            </a:r>
            <a:endParaRPr sz="2400">
              <a:solidFill>
                <a:schemeClr val="dk1"/>
              </a:solidFill>
              <a:latin typeface="Calibri"/>
              <a:ea typeface="Calibri"/>
              <a:cs typeface="Calibri"/>
              <a:sym typeface="Calibri"/>
            </a:endParaRPr>
          </a:p>
        </p:txBody>
      </p:sp>
      <p:sp>
        <p:nvSpPr>
          <p:cNvPr id="4" name="Text Placeholder 2">
            <a:extLst>
              <a:ext uri="{FF2B5EF4-FFF2-40B4-BE49-F238E27FC236}">
                <a16:creationId xmlns:a16="http://schemas.microsoft.com/office/drawing/2014/main" id="{373A2AEB-1DD0-08BB-3A33-802CB855B9D0}"/>
              </a:ext>
            </a:extLst>
          </p:cNvPr>
          <p:cNvSpPr>
            <a:spLocks noGrp="1" noChangeArrowheads="1"/>
          </p:cNvSpPr>
          <p:nvPr>
            <p:ph type="body" idx="1"/>
          </p:nvPr>
        </p:nvSpPr>
        <p:spPr bwMode="auto">
          <a:xfrm>
            <a:off x="606552" y="1566952"/>
            <a:ext cx="6937248" cy="3724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The Prompt Fixer system is designed to improve the quality of user prompts for effective interaction with large language models (LLMs). Users often provide vague or unstructured inputs, leading to inaccurate outputs. This system uses machine learning for intent detection and toxicity filtering, along with a transformer-based model for prompt optimization. It enhances clarity, preserves user intent, ensures safety, and evaluates performance using multiple metrics, resulting in more reliable and meaningful AI-generated responses.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0" lvl="0" indent="0" algn="just">
              <a:spcBef>
                <a:spcPts val="0"/>
              </a:spcBef>
              <a:buSzPts val="3200"/>
              <a:buNone/>
            </a:pPr>
            <a:endParaRPr lang="en-US" sz="2400" dirty="0"/>
          </a:p>
          <a:p>
            <a:pPr marL="0" lvl="0" indent="0" algn="just">
              <a:spcBef>
                <a:spcPts val="0"/>
              </a:spcBef>
              <a:buSzPts val="3200"/>
              <a:buNone/>
            </a:pPr>
            <a:r>
              <a:rPr lang="en-US" sz="2400" dirty="0"/>
              <a:t>Large language models mainly depend on the quality of user input to generate accurate responses. However, many users provide prompts that are unclear, incomplete, or poorly structured, leading to inconsistent and unreliable outputs. Additionally, there is a lack of automated systems to refine prompts, ensure safety, and evaluate their effectiveness, which limits the overall performance and usability of AI-based systems.</a:t>
            </a:r>
          </a:p>
          <a:p>
            <a:pPr marL="0" lvl="0" indent="0" algn="just">
              <a:spcBef>
                <a:spcPts val="0"/>
              </a:spcBef>
              <a:buSzPts val="3200"/>
              <a:buNone/>
            </a:pPr>
            <a:endParaRPr sz="2400" dirty="0"/>
          </a:p>
        </p:txBody>
      </p:sp>
      <p:pic>
        <p:nvPicPr>
          <p:cNvPr id="115" name="Google Shape;115;p5" descr="About Us | Karunya Institute of Technology and Sciences | NAAC A++  Accredited | Best University"/>
          <p:cNvPicPr preferRelativeResize="0"/>
          <p:nvPr/>
        </p:nvPicPr>
        <p:blipFill rotWithShape="1">
          <a:blip r:embed="rId3">
            <a:alphaModFix/>
          </a:blip>
          <a:srcRect/>
          <a:stretch/>
        </p:blipFill>
        <p:spPr>
          <a:xfrm>
            <a:off x="7696200" y="105471"/>
            <a:ext cx="1352756" cy="1289837"/>
          </a:xfrm>
          <a:prstGeom prst="rect">
            <a:avLst/>
          </a:prstGeom>
          <a:noFill/>
          <a:ln>
            <a:noFill/>
          </a:ln>
        </p:spPr>
      </p:pic>
      <p:sp>
        <p:nvSpPr>
          <p:cNvPr id="116" name="Google Shape;116;p5"/>
          <p:cNvSpPr/>
          <p:nvPr/>
        </p:nvSpPr>
        <p:spPr>
          <a:xfrm>
            <a:off x="457200" y="838200"/>
            <a:ext cx="2650084"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400" b="1">
                <a:solidFill>
                  <a:schemeClr val="dk1"/>
                </a:solidFill>
                <a:latin typeface="Times New Roman"/>
                <a:ea typeface="Times New Roman"/>
                <a:cs typeface="Times New Roman"/>
                <a:sym typeface="Times New Roman"/>
              </a:rPr>
              <a:t>INTRODUCTION</a:t>
            </a:r>
            <a:endParaRPr sz="24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6"/>
          <p:cNvSpPr txBox="1">
            <a:spLocks noGrp="1"/>
          </p:cNvSpPr>
          <p:nvPr>
            <p:ph type="body" idx="1"/>
          </p:nvPr>
        </p:nvSpPr>
        <p:spPr>
          <a:xfrm>
            <a:off x="393192" y="1714500"/>
            <a:ext cx="6821424" cy="3429000"/>
          </a:xfrm>
          <a:prstGeom prst="rect">
            <a:avLst/>
          </a:prstGeom>
          <a:noFill/>
          <a:ln>
            <a:noFill/>
          </a:ln>
        </p:spPr>
        <p:txBody>
          <a:bodyPr spcFirstLastPara="1" wrap="square" lIns="91425" tIns="45700" rIns="91425" bIns="45700" anchor="t" anchorCtr="0">
            <a:normAutofit/>
          </a:bodyPr>
          <a:lstStyle/>
          <a:p>
            <a:pPr marL="0" indent="0" algn="just">
              <a:spcBef>
                <a:spcPts val="0"/>
              </a:spcBef>
              <a:buSzPts val="3200"/>
              <a:buNone/>
            </a:pPr>
            <a:endParaRPr lang="en-US" sz="1050" dirty="0"/>
          </a:p>
          <a:p>
            <a:pPr marL="0" indent="0" algn="just">
              <a:spcBef>
                <a:spcPts val="0"/>
              </a:spcBef>
              <a:buSzPts val="3200"/>
              <a:buNone/>
            </a:pPr>
            <a:r>
              <a:rPr lang="en-US" sz="2400" dirty="0"/>
              <a:t>Large language models depend on clear and well-structured prompts to generate accurate results. However, users often provide vague or poorly written inputs, leading to incorrect or unclear outputs. There is no proper system to automatically improve prompts and ensure safe usage, which reduces the effectiveness of AI applications.</a:t>
            </a:r>
          </a:p>
        </p:txBody>
      </p:sp>
      <p:pic>
        <p:nvPicPr>
          <p:cNvPr id="122" name="Google Shape;122;p6" descr="About Us | Karunya Institute of Technology and Sciences | NAAC A++  Accredited | Best University"/>
          <p:cNvPicPr preferRelativeResize="0"/>
          <p:nvPr/>
        </p:nvPicPr>
        <p:blipFill rotWithShape="1">
          <a:blip r:embed="rId3">
            <a:alphaModFix/>
          </a:blip>
          <a:srcRect/>
          <a:stretch/>
        </p:blipFill>
        <p:spPr>
          <a:xfrm>
            <a:off x="7696200" y="105471"/>
            <a:ext cx="1352756" cy="1289837"/>
          </a:xfrm>
          <a:prstGeom prst="rect">
            <a:avLst/>
          </a:prstGeom>
          <a:noFill/>
          <a:ln>
            <a:noFill/>
          </a:ln>
        </p:spPr>
      </p:pic>
      <p:sp>
        <p:nvSpPr>
          <p:cNvPr id="123" name="Google Shape;123;p6"/>
          <p:cNvSpPr/>
          <p:nvPr/>
        </p:nvSpPr>
        <p:spPr>
          <a:xfrm>
            <a:off x="457200" y="609600"/>
            <a:ext cx="4919472" cy="64629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IN" sz="2400" b="1" dirty="0">
                <a:solidFill>
                  <a:schemeClr val="dk1"/>
                </a:solidFill>
                <a:latin typeface="Times New Roman"/>
                <a:ea typeface="Times New Roman"/>
                <a:cs typeface="Times New Roman"/>
                <a:sym typeface="Times New Roman"/>
              </a:rPr>
              <a:t>PROBLEM STATEMENT</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pic>
        <p:nvPicPr>
          <p:cNvPr id="108" name="Google Shape;108;p4" descr="About Us | Karunya Institute of Technology and Sciences | NAAC A++  Accredited | Best University"/>
          <p:cNvPicPr preferRelativeResize="0"/>
          <p:nvPr/>
        </p:nvPicPr>
        <p:blipFill rotWithShape="1">
          <a:blip r:embed="rId3">
            <a:alphaModFix/>
          </a:blip>
          <a:srcRect/>
          <a:stretch/>
        </p:blipFill>
        <p:spPr>
          <a:xfrm>
            <a:off x="7696200" y="105471"/>
            <a:ext cx="1352756" cy="1289837"/>
          </a:xfrm>
          <a:prstGeom prst="rect">
            <a:avLst/>
          </a:prstGeom>
          <a:noFill/>
          <a:ln>
            <a:noFill/>
          </a:ln>
        </p:spPr>
      </p:pic>
      <p:sp>
        <p:nvSpPr>
          <p:cNvPr id="109" name="Google Shape;109;p4"/>
          <p:cNvSpPr/>
          <p:nvPr/>
        </p:nvSpPr>
        <p:spPr>
          <a:xfrm>
            <a:off x="533400" y="914400"/>
            <a:ext cx="2135521"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400" b="1">
                <a:solidFill>
                  <a:schemeClr val="dk1"/>
                </a:solidFill>
                <a:latin typeface="Times New Roman"/>
                <a:ea typeface="Times New Roman"/>
                <a:cs typeface="Times New Roman"/>
                <a:sym typeface="Times New Roman"/>
              </a:rPr>
              <a:t>OBJECTIVES</a:t>
            </a:r>
            <a:endParaRPr sz="2400">
              <a:solidFill>
                <a:schemeClr val="dk1"/>
              </a:solidFill>
              <a:latin typeface="Calibri"/>
              <a:ea typeface="Calibri"/>
              <a:cs typeface="Calibri"/>
              <a:sym typeface="Calibri"/>
            </a:endParaRPr>
          </a:p>
        </p:txBody>
      </p:sp>
      <p:sp>
        <p:nvSpPr>
          <p:cNvPr id="164" name="Google Shape;164;p12"/>
          <p:cNvSpPr txBox="1">
            <a:spLocks/>
          </p:cNvSpPr>
          <p:nvPr/>
        </p:nvSpPr>
        <p:spPr>
          <a:xfrm>
            <a:off x="798576" y="1581912"/>
            <a:ext cx="7114032" cy="4525963"/>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42900" algn="l" rtl="0">
              <a:lnSpc>
                <a:spcPct val="100000"/>
              </a:lnSpc>
              <a:spcBef>
                <a:spcPts val="360"/>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914400" marR="0" lvl="1" indent="-342900" algn="l" rtl="0">
              <a:lnSpc>
                <a:spcPct val="100000"/>
              </a:lnSpc>
              <a:spcBef>
                <a:spcPts val="36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0" indent="0" algn="just">
              <a:spcBef>
                <a:spcPts val="0"/>
              </a:spcBef>
              <a:buSzPts val="3200"/>
              <a:buNone/>
            </a:pPr>
            <a:r>
              <a:rPr lang="en-IN" sz="2400" b="1" dirty="0">
                <a:latin typeface="Times New Roman"/>
                <a:ea typeface="Times New Roman"/>
                <a:cs typeface="Times New Roman"/>
                <a:sym typeface="Times New Roman"/>
              </a:rPr>
              <a:t>Aim of the Project:</a:t>
            </a:r>
          </a:p>
          <a:p>
            <a:pPr marL="0" indent="0" algn="just">
              <a:spcBef>
                <a:spcPts val="0"/>
              </a:spcBef>
              <a:buSzPts val="3200"/>
              <a:buNone/>
            </a:pPr>
            <a:endParaRPr lang="en-US" sz="2400" dirty="0"/>
          </a:p>
          <a:p>
            <a:pPr indent="-457200" algn="just">
              <a:spcBef>
                <a:spcPts val="0"/>
              </a:spcBef>
              <a:buSzPts val="3200"/>
            </a:pPr>
            <a:r>
              <a:rPr lang="en-US" sz="2400" dirty="0"/>
              <a:t>To improve the clarity and structure of user prompts for better LLM responses</a:t>
            </a:r>
          </a:p>
          <a:p>
            <a:pPr indent="-457200" algn="just">
              <a:spcBef>
                <a:spcPts val="0"/>
              </a:spcBef>
              <a:buSzPts val="3200"/>
            </a:pPr>
            <a:r>
              <a:rPr lang="en-US" sz="2400" dirty="0"/>
              <a:t>To detect user intent accurately using machine learning techniques</a:t>
            </a:r>
          </a:p>
          <a:p>
            <a:pPr indent="-457200" algn="just">
              <a:spcBef>
                <a:spcPts val="0"/>
              </a:spcBef>
              <a:buSzPts val="3200"/>
            </a:pPr>
            <a:r>
              <a:rPr lang="en-US" sz="2400" dirty="0"/>
              <a:t>To identify and filter harmful or unsafe inputs</a:t>
            </a:r>
          </a:p>
          <a:p>
            <a:pPr indent="-457200" algn="just">
              <a:spcBef>
                <a:spcPts val="0"/>
              </a:spcBef>
              <a:buSzPts val="3200"/>
            </a:pPr>
            <a:r>
              <a:rPr lang="en-US" sz="2400" dirty="0"/>
              <a:t>To optimize prompts while preserving the original meaning</a:t>
            </a:r>
          </a:p>
          <a:p>
            <a:pPr indent="-457200" algn="just">
              <a:spcBef>
                <a:spcPts val="0"/>
              </a:spcBef>
              <a:buSzPts val="3200"/>
            </a:pPr>
            <a:r>
              <a:rPr lang="en-US" sz="2400" dirty="0"/>
              <a:t>To evaluate prompt quality using multiple performance metrics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2000"/>
              <a:buFont typeface="Times New Roman"/>
              <a:buNone/>
            </a:pPr>
            <a:r>
              <a:rPr lang="en-IN" sz="2000" b="1" dirty="0"/>
              <a:t>ALGORITHMS USED</a:t>
            </a:r>
            <a:endParaRPr sz="2000" b="1" dirty="0"/>
          </a:p>
        </p:txBody>
      </p:sp>
      <p:sp>
        <p:nvSpPr>
          <p:cNvPr id="129" name="Google Shape;129;p7"/>
          <p:cNvSpPr txBox="1">
            <a:spLocks noGrp="1"/>
          </p:cNvSpPr>
          <p:nvPr>
            <p:ph type="body" idx="1"/>
          </p:nvPr>
        </p:nvSpPr>
        <p:spPr>
          <a:xfrm>
            <a:off x="457200" y="1166018"/>
            <a:ext cx="7671816" cy="5509102"/>
          </a:xfrm>
          <a:prstGeom prst="rect">
            <a:avLst/>
          </a:prstGeom>
          <a:noFill/>
          <a:ln>
            <a:noFill/>
          </a:ln>
        </p:spPr>
        <p:txBody>
          <a:bodyPr spcFirstLastPara="1" wrap="square" lIns="91425" tIns="45700" rIns="91425" bIns="45700" anchor="t" anchorCtr="0">
            <a:normAutofit fontScale="92500" lnSpcReduction="20000"/>
          </a:bodyPr>
          <a:lstStyle/>
          <a:p>
            <a:pPr marL="114300" indent="0">
              <a:buNone/>
            </a:pPr>
            <a:r>
              <a:rPr lang="en-IN" sz="1600" b="1" dirty="0"/>
              <a:t>Intent Detection</a:t>
            </a:r>
          </a:p>
          <a:p>
            <a:r>
              <a:rPr lang="en-IN" sz="1600" dirty="0"/>
              <a:t>Uses </a:t>
            </a:r>
            <a:r>
              <a:rPr lang="en-IN" sz="1600" b="1" dirty="0"/>
              <a:t> Logistic Regression</a:t>
            </a:r>
            <a:r>
              <a:rPr lang="en-IN" sz="1600" dirty="0"/>
              <a:t> </a:t>
            </a:r>
          </a:p>
          <a:p>
            <a:r>
              <a:rPr lang="en-IN" sz="1600" dirty="0"/>
              <a:t>Converts input text into numerical features </a:t>
            </a:r>
          </a:p>
          <a:p>
            <a:r>
              <a:rPr lang="en-IN" sz="1600" dirty="0"/>
              <a:t>Classifies user prompt into categories (query, task, etc.) </a:t>
            </a:r>
          </a:p>
          <a:p>
            <a:r>
              <a:rPr lang="en-IN" sz="1600" dirty="0"/>
              <a:t>Helps the system understand user purpose </a:t>
            </a:r>
          </a:p>
          <a:p>
            <a:r>
              <a:rPr lang="en-IN" sz="1600" dirty="0"/>
              <a:t>Enables context-aware prompt optimization </a:t>
            </a:r>
          </a:p>
          <a:p>
            <a:br>
              <a:rPr lang="en-IN" sz="1600" dirty="0"/>
            </a:br>
            <a:endParaRPr lang="en-IN" sz="1600" dirty="0"/>
          </a:p>
          <a:p>
            <a:pPr marL="114300" indent="0">
              <a:buNone/>
            </a:pPr>
            <a:r>
              <a:rPr lang="en-IN" sz="1600" b="1" dirty="0"/>
              <a:t>Toxicity Detection</a:t>
            </a:r>
          </a:p>
          <a:p>
            <a:r>
              <a:rPr lang="en-IN" sz="1600" dirty="0"/>
              <a:t>Uses </a:t>
            </a:r>
            <a:r>
              <a:rPr lang="en-IN" sz="1600" b="1" dirty="0"/>
              <a:t> Random Forest Classifier</a:t>
            </a:r>
            <a:r>
              <a:rPr lang="en-IN" sz="1600" dirty="0"/>
              <a:t> </a:t>
            </a:r>
          </a:p>
          <a:p>
            <a:r>
              <a:rPr lang="en-IN" sz="1600" dirty="0"/>
              <a:t>Identifies harmful or unsafe inputs </a:t>
            </a:r>
          </a:p>
          <a:p>
            <a:r>
              <a:rPr lang="en-IN" sz="1600" dirty="0"/>
              <a:t>Classifies prompts as </a:t>
            </a:r>
            <a:r>
              <a:rPr lang="en-IN" sz="1600" b="1" dirty="0"/>
              <a:t>toxic or non-toxic</a:t>
            </a:r>
            <a:r>
              <a:rPr lang="en-IN" sz="1600" dirty="0"/>
              <a:t> </a:t>
            </a:r>
          </a:p>
          <a:p>
            <a:r>
              <a:rPr lang="en-IN" sz="1600" dirty="0"/>
              <a:t>Blocks malicious or inappropriate content </a:t>
            </a:r>
          </a:p>
          <a:p>
            <a:r>
              <a:rPr lang="en-IN" sz="1600" dirty="0"/>
              <a:t>Ensures safe and ethical system usage </a:t>
            </a:r>
          </a:p>
          <a:p>
            <a:br>
              <a:rPr lang="en-IN" sz="1600" dirty="0"/>
            </a:br>
            <a:endParaRPr lang="en-IN" sz="1600" dirty="0"/>
          </a:p>
          <a:p>
            <a:pPr marL="114300" indent="0">
              <a:buNone/>
            </a:pPr>
            <a:r>
              <a:rPr lang="en-IN" sz="1600" b="1" dirty="0"/>
              <a:t>Prompt Rewriting</a:t>
            </a:r>
          </a:p>
          <a:p>
            <a:r>
              <a:rPr lang="en-IN" sz="1600" dirty="0"/>
              <a:t>Uses </a:t>
            </a:r>
            <a:r>
              <a:rPr lang="en-IN" sz="1600" b="1" dirty="0"/>
              <a:t>Transformer Model (Gemma via </a:t>
            </a:r>
            <a:r>
              <a:rPr lang="en-IN" sz="1600" b="1" dirty="0" err="1"/>
              <a:t>Ollama</a:t>
            </a:r>
            <a:r>
              <a:rPr lang="en-IN" sz="1600" b="1" dirty="0"/>
              <a:t>)</a:t>
            </a:r>
            <a:r>
              <a:rPr lang="en-IN" sz="1600" dirty="0"/>
              <a:t> </a:t>
            </a:r>
          </a:p>
          <a:p>
            <a:r>
              <a:rPr lang="en-IN" sz="1600" dirty="0"/>
              <a:t>Improves clarity, grammar, and structure </a:t>
            </a:r>
          </a:p>
          <a:p>
            <a:r>
              <a:rPr lang="en-IN" sz="1600" dirty="0"/>
              <a:t>Adds necessary context to incomplete prompts </a:t>
            </a:r>
          </a:p>
          <a:p>
            <a:r>
              <a:rPr lang="en-IN" sz="1600" dirty="0"/>
              <a:t>Preserves original meaning and intent </a:t>
            </a:r>
          </a:p>
          <a:p>
            <a:r>
              <a:rPr lang="en-IN" sz="1600" dirty="0"/>
              <a:t>Generates optimized, LLM-friendly prompts</a:t>
            </a:r>
          </a:p>
          <a:p>
            <a:pPr indent="-457200">
              <a:spcBef>
                <a:spcPts val="0"/>
              </a:spcBef>
              <a:buSzPts val="3200"/>
            </a:pPr>
            <a:endParaRPr sz="1100" dirty="0"/>
          </a:p>
        </p:txBody>
      </p:sp>
      <p:pic>
        <p:nvPicPr>
          <p:cNvPr id="130" name="Google Shape;130;p7" descr="About Us | Karunya Institute of Technology and Sciences | NAAC A++  Accredited | Best University"/>
          <p:cNvPicPr preferRelativeResize="0"/>
          <p:nvPr/>
        </p:nvPicPr>
        <p:blipFill rotWithShape="1">
          <a:blip r:embed="rId3">
            <a:alphaModFix/>
          </a:blip>
          <a:srcRect/>
          <a:stretch/>
        </p:blipFill>
        <p:spPr>
          <a:xfrm>
            <a:off x="7696200" y="105471"/>
            <a:ext cx="1352756" cy="128983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8"/>
          <p:cNvSpPr txBox="1">
            <a:spLocks noGrp="1"/>
          </p:cNvSpPr>
          <p:nvPr>
            <p:ph type="title"/>
          </p:nvPr>
        </p:nvSpPr>
        <p:spPr>
          <a:xfrm>
            <a:off x="457200" y="731836"/>
            <a:ext cx="6007608" cy="246571"/>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2400"/>
              <a:buFont typeface="Times New Roman"/>
              <a:buNone/>
            </a:pPr>
            <a:r>
              <a:rPr lang="en-IN" sz="2400" b="1" dirty="0">
                <a:latin typeface="Times New Roman"/>
                <a:ea typeface="Times New Roman"/>
                <a:cs typeface="Times New Roman"/>
                <a:sym typeface="Times New Roman"/>
              </a:rPr>
              <a:t>PROPOSED  SYSTEM ARCHITECTURE </a:t>
            </a:r>
            <a:br>
              <a:rPr lang="en-IN" sz="2400" dirty="0">
                <a:latin typeface="Times New Roman"/>
                <a:ea typeface="Times New Roman"/>
                <a:cs typeface="Times New Roman"/>
                <a:sym typeface="Times New Roman"/>
              </a:rPr>
            </a:br>
            <a:br>
              <a:rPr lang="en-IN" sz="2400" b="1" dirty="0">
                <a:latin typeface="Times New Roman"/>
                <a:ea typeface="Times New Roman"/>
                <a:cs typeface="Times New Roman"/>
                <a:sym typeface="Times New Roman"/>
              </a:rPr>
            </a:br>
            <a:endParaRPr sz="2400" b="1" dirty="0"/>
          </a:p>
        </p:txBody>
      </p:sp>
      <p:sp>
        <p:nvSpPr>
          <p:cNvPr id="136" name="Google Shape;136;p8"/>
          <p:cNvSpPr txBox="1">
            <a:spLocks noGrp="1"/>
          </p:cNvSpPr>
          <p:nvPr>
            <p:ph type="body" idx="1"/>
          </p:nvPr>
        </p:nvSpPr>
        <p:spPr>
          <a:xfrm>
            <a:off x="274320" y="1166018"/>
            <a:ext cx="5550408" cy="4960146"/>
          </a:xfrm>
          <a:prstGeom prst="rect">
            <a:avLst/>
          </a:prstGeom>
          <a:noFill/>
          <a:ln>
            <a:noFill/>
          </a:ln>
        </p:spPr>
        <p:txBody>
          <a:bodyPr spcFirstLastPara="1" wrap="square" lIns="91425" tIns="45700" rIns="91425" bIns="45700" anchor="t" anchorCtr="0">
            <a:normAutofit/>
          </a:bodyPr>
          <a:lstStyle/>
          <a:p>
            <a:pPr marL="0" lvl="0" indent="0" algn="just">
              <a:spcBef>
                <a:spcPts val="0"/>
              </a:spcBef>
              <a:buSzPts val="3200"/>
              <a:buNone/>
            </a:pPr>
            <a:endParaRPr lang="en-US" sz="2400" dirty="0"/>
          </a:p>
          <a:p>
            <a:pPr marL="0" lvl="0" indent="0" algn="just">
              <a:spcBef>
                <a:spcPts val="0"/>
              </a:spcBef>
              <a:buSzPts val="3200"/>
              <a:buNone/>
            </a:pPr>
            <a:r>
              <a:rPr lang="en-US" sz="2400" dirty="0"/>
              <a:t>The Prompt Fixer system follows a modular architecture that processes user input through multiple stages. The input is first checked for safety and intent using machine learning models, then optimized using a transformer-based model to improve clarity and structure. Finally, the output is evaluated and displayed to the user, ensuring reliable and effective prompt enhancement.</a:t>
            </a:r>
          </a:p>
          <a:p>
            <a:pPr marL="0" lvl="0" indent="0" algn="just">
              <a:spcBef>
                <a:spcPts val="0"/>
              </a:spcBef>
              <a:buSzPts val="3200"/>
              <a:buNone/>
            </a:pPr>
            <a:endParaRPr lang="en-US" sz="2400" dirty="0"/>
          </a:p>
        </p:txBody>
      </p:sp>
      <p:pic>
        <p:nvPicPr>
          <p:cNvPr id="137" name="Google Shape;137;p8" descr="About Us | Karunya Institute of Technology and Sciences | NAAC A++  Accredited | Best University"/>
          <p:cNvPicPr preferRelativeResize="0"/>
          <p:nvPr/>
        </p:nvPicPr>
        <p:blipFill rotWithShape="1">
          <a:blip r:embed="rId3">
            <a:alphaModFix/>
          </a:blip>
          <a:srcRect/>
          <a:stretch/>
        </p:blipFill>
        <p:spPr>
          <a:xfrm>
            <a:off x="7696200" y="105471"/>
            <a:ext cx="1352756" cy="1289837"/>
          </a:xfrm>
          <a:prstGeom prst="rect">
            <a:avLst/>
          </a:prstGeom>
          <a:noFill/>
          <a:ln>
            <a:noFill/>
          </a:ln>
        </p:spPr>
      </p:pic>
      <p:pic>
        <p:nvPicPr>
          <p:cNvPr id="4" name="Picture 3">
            <a:extLst>
              <a:ext uri="{FF2B5EF4-FFF2-40B4-BE49-F238E27FC236}">
                <a16:creationId xmlns:a16="http://schemas.microsoft.com/office/drawing/2014/main" id="{9BC8801F-7A56-8C8A-8FA4-72FC4220528B}"/>
              </a:ext>
            </a:extLst>
          </p:cNvPr>
          <p:cNvPicPr>
            <a:picLocks noChangeAspect="1"/>
          </p:cNvPicPr>
          <p:nvPr/>
        </p:nvPicPr>
        <p:blipFill>
          <a:blip r:embed="rId4"/>
          <a:stretch>
            <a:fillRect/>
          </a:stretch>
        </p:blipFill>
        <p:spPr>
          <a:xfrm>
            <a:off x="5971383" y="1393122"/>
            <a:ext cx="2852577" cy="450593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2400"/>
              <a:buFont typeface="Times New Roman"/>
              <a:buNone/>
            </a:pPr>
            <a:r>
              <a:rPr lang="en-IN" sz="2400" b="1" dirty="0">
                <a:latin typeface="Times New Roman"/>
                <a:ea typeface="Times New Roman"/>
                <a:cs typeface="Times New Roman"/>
                <a:sym typeface="Times New Roman"/>
              </a:rPr>
              <a:t>MODULE  DESCRIPTION </a:t>
            </a:r>
            <a:br>
              <a:rPr lang="en-IN" sz="2400" dirty="0">
                <a:latin typeface="Times New Roman"/>
                <a:ea typeface="Times New Roman"/>
                <a:cs typeface="Times New Roman"/>
                <a:sym typeface="Times New Roman"/>
              </a:rPr>
            </a:br>
            <a:br>
              <a:rPr lang="en-IN" sz="2400" b="1" dirty="0">
                <a:latin typeface="Times New Roman"/>
                <a:ea typeface="Times New Roman"/>
                <a:cs typeface="Times New Roman"/>
                <a:sym typeface="Times New Roman"/>
              </a:rPr>
            </a:br>
            <a:endParaRPr sz="2400" b="1" dirty="0"/>
          </a:p>
        </p:txBody>
      </p:sp>
      <p:sp>
        <p:nvSpPr>
          <p:cNvPr id="143" name="Google Shape;143;p9"/>
          <p:cNvSpPr txBox="1">
            <a:spLocks noGrp="1"/>
          </p:cNvSpPr>
          <p:nvPr>
            <p:ph type="body" idx="1"/>
          </p:nvPr>
        </p:nvSpPr>
        <p:spPr>
          <a:xfrm>
            <a:off x="347472" y="1161869"/>
            <a:ext cx="8613648" cy="4983162"/>
          </a:xfrm>
          <a:prstGeom prst="rect">
            <a:avLst/>
          </a:prstGeom>
          <a:noFill/>
          <a:ln>
            <a:noFill/>
          </a:ln>
        </p:spPr>
        <p:txBody>
          <a:bodyPr spcFirstLastPara="1" wrap="square" lIns="91425" tIns="45700" rIns="91425" bIns="45700" anchor="t" anchorCtr="0">
            <a:normAutofit/>
          </a:bodyPr>
          <a:lstStyle/>
          <a:p>
            <a:pPr marL="114300" indent="0">
              <a:buNone/>
            </a:pPr>
            <a:r>
              <a:rPr lang="en-IN" sz="2000" b="1" dirty="0"/>
              <a:t>1. Input &amp; Preprocessing Module</a:t>
            </a:r>
          </a:p>
          <a:p>
            <a:r>
              <a:rPr lang="en-IN" sz="2000" dirty="0"/>
              <a:t>Accepts user input and cleans text for further processing.</a:t>
            </a:r>
          </a:p>
          <a:p>
            <a:pPr marL="114300" indent="0">
              <a:buNone/>
            </a:pPr>
            <a:r>
              <a:rPr lang="en-IN" sz="2000" b="1" dirty="0"/>
              <a:t>2. Intent Detection Module</a:t>
            </a:r>
          </a:p>
          <a:p>
            <a:r>
              <a:rPr lang="en-IN" sz="2000" dirty="0"/>
              <a:t>Classifies user prompt into categories using machine learning techniques.</a:t>
            </a:r>
          </a:p>
          <a:p>
            <a:pPr marL="114300" indent="0">
              <a:buNone/>
            </a:pPr>
            <a:r>
              <a:rPr lang="en-IN" sz="2000" b="1" dirty="0"/>
              <a:t>3. Toxicity Detection Module</a:t>
            </a:r>
          </a:p>
          <a:p>
            <a:r>
              <a:rPr lang="en-IN" sz="2000" dirty="0"/>
              <a:t>Detects harmful content and blocks unsafe or malicious user inputs.</a:t>
            </a:r>
          </a:p>
          <a:p>
            <a:pPr marL="114300" indent="0">
              <a:buNone/>
            </a:pPr>
            <a:r>
              <a:rPr lang="en-IN" sz="2000" b="1" dirty="0"/>
              <a:t>4. Prompt Rewriting Module</a:t>
            </a:r>
          </a:p>
          <a:p>
            <a:r>
              <a:rPr lang="en-IN" sz="2000" dirty="0"/>
              <a:t>Rewrites prompts using transformer model for clarity and structure.</a:t>
            </a:r>
          </a:p>
          <a:p>
            <a:pPr marL="114300" indent="0">
              <a:buNone/>
            </a:pPr>
            <a:r>
              <a:rPr lang="en-IN" sz="2000" b="1" dirty="0"/>
              <a:t>5. Safety Module</a:t>
            </a:r>
          </a:p>
          <a:p>
            <a:r>
              <a:rPr lang="en-IN" sz="2000" dirty="0"/>
              <a:t>Identifies prompt injection attempts and prevents misuse of the system.</a:t>
            </a:r>
          </a:p>
          <a:p>
            <a:pPr marL="114300" indent="0">
              <a:buNone/>
            </a:pPr>
            <a:r>
              <a:rPr lang="en-IN" sz="2000" b="1" dirty="0"/>
              <a:t>6. Evaluation Module</a:t>
            </a:r>
          </a:p>
          <a:p>
            <a:r>
              <a:rPr lang="en-IN" sz="2000" dirty="0"/>
              <a:t>Evaluates optimized prompts using semantic, structural, and performance metrics.</a:t>
            </a:r>
          </a:p>
          <a:p>
            <a:pPr marL="342900" lvl="0" indent="-342900" algn="l" rtl="0">
              <a:spcBef>
                <a:spcPts val="0"/>
              </a:spcBef>
              <a:spcAft>
                <a:spcPts val="0"/>
              </a:spcAft>
              <a:buClr>
                <a:schemeClr val="dk1"/>
              </a:buClr>
              <a:buSzPts val="3200"/>
              <a:buChar char="•"/>
            </a:pPr>
            <a:endParaRPr sz="2000" dirty="0"/>
          </a:p>
        </p:txBody>
      </p:sp>
      <p:pic>
        <p:nvPicPr>
          <p:cNvPr id="144" name="Google Shape;144;p9" descr="About Us | Karunya Institute of Technology and Sciences | NAAC A++  Accredited | Best University"/>
          <p:cNvPicPr preferRelativeResize="0"/>
          <p:nvPr/>
        </p:nvPicPr>
        <p:blipFill rotWithShape="1">
          <a:blip r:embed="rId3">
            <a:alphaModFix/>
          </a:blip>
          <a:srcRect/>
          <a:stretch/>
        </p:blipFill>
        <p:spPr>
          <a:xfrm>
            <a:off x="7696200" y="105471"/>
            <a:ext cx="1352756" cy="1289837"/>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2"/>
          <p:cNvSpPr txBox="1">
            <a:spLocks noGrp="1"/>
          </p:cNvSpPr>
          <p:nvPr>
            <p:ph type="title"/>
          </p:nvPr>
        </p:nvSpPr>
        <p:spPr>
          <a:xfrm>
            <a:off x="457200" y="471656"/>
            <a:ext cx="8229600" cy="557466"/>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2400"/>
              <a:buFont typeface="Times New Roman"/>
              <a:buNone/>
            </a:pPr>
            <a:r>
              <a:rPr lang="en-IN" sz="2400" b="1" dirty="0">
                <a:latin typeface="Times New Roman"/>
                <a:ea typeface="Times New Roman"/>
                <a:cs typeface="Times New Roman"/>
                <a:sym typeface="Times New Roman"/>
              </a:rPr>
              <a:t>Evaluation Metrics</a:t>
            </a:r>
            <a:br>
              <a:rPr lang="en-IN" sz="2400" b="1" dirty="0">
                <a:latin typeface="Times New Roman"/>
                <a:ea typeface="Times New Roman"/>
                <a:cs typeface="Times New Roman"/>
                <a:sym typeface="Times New Roman"/>
              </a:rPr>
            </a:br>
            <a:endParaRPr sz="2400" b="1" dirty="0"/>
          </a:p>
        </p:txBody>
      </p:sp>
      <p:sp>
        <p:nvSpPr>
          <p:cNvPr id="9" name="Text Placeholder 8">
            <a:extLst>
              <a:ext uri="{FF2B5EF4-FFF2-40B4-BE49-F238E27FC236}">
                <a16:creationId xmlns:a16="http://schemas.microsoft.com/office/drawing/2014/main" id="{2B37A739-E141-C4BA-A6F2-4C7DC4C6CFFC}"/>
              </a:ext>
            </a:extLst>
          </p:cNvPr>
          <p:cNvSpPr>
            <a:spLocks noGrp="1"/>
          </p:cNvSpPr>
          <p:nvPr>
            <p:ph type="body" idx="4"/>
          </p:nvPr>
        </p:nvSpPr>
        <p:spPr>
          <a:xfrm>
            <a:off x="645492" y="919394"/>
            <a:ext cx="7172628" cy="5938606"/>
          </a:xfrm>
        </p:spPr>
        <p:txBody>
          <a:bodyPr/>
          <a:lstStyle/>
          <a:p>
            <a:pPr marL="76200" indent="0">
              <a:buNone/>
            </a:pPr>
            <a:r>
              <a:rPr lang="en-IN" b="1" dirty="0"/>
              <a:t>BERT SCORE:</a:t>
            </a:r>
          </a:p>
          <a:p>
            <a:pPr marL="76200" indent="0" algn="just">
              <a:buNone/>
            </a:pPr>
            <a:r>
              <a:rPr lang="en-US" dirty="0"/>
              <a:t>BERT Score measures </a:t>
            </a:r>
            <a:r>
              <a:rPr lang="en-US" b="1" dirty="0"/>
              <a:t>deep contextual similarity</a:t>
            </a:r>
            <a:r>
              <a:rPr lang="en-US" dirty="0"/>
              <a:t> using embeddings from a transformer model.</a:t>
            </a:r>
          </a:p>
          <a:p>
            <a:pPr marL="76200" indent="0" algn="just">
              <a:buNone/>
            </a:pPr>
            <a:r>
              <a:rPr lang="en-US" b="1" dirty="0"/>
              <a:t>BELU SCORE:</a:t>
            </a:r>
          </a:p>
          <a:p>
            <a:pPr marL="76200" indent="0" algn="just">
              <a:buNone/>
            </a:pPr>
            <a:r>
              <a:rPr lang="en-US" dirty="0"/>
              <a:t>BELU (Bilingual Evaluation Understudy) measures how similar the </a:t>
            </a:r>
            <a:r>
              <a:rPr lang="en-US" b="1" dirty="0"/>
              <a:t>word structure</a:t>
            </a:r>
            <a:r>
              <a:rPr lang="en-US" dirty="0"/>
              <a:t> of the optimized prompt is to the original.</a:t>
            </a:r>
          </a:p>
          <a:p>
            <a:pPr marL="76200" indent="0" algn="just">
              <a:buNone/>
            </a:pPr>
            <a:r>
              <a:rPr lang="en-US" b="1" dirty="0"/>
              <a:t>READIBILITY INDEX:</a:t>
            </a:r>
          </a:p>
          <a:p>
            <a:pPr marL="76200" indent="0" algn="just">
              <a:buNone/>
            </a:pPr>
            <a:r>
              <a:rPr lang="en-US" dirty="0"/>
              <a:t>Measure how east to read and understand  based on sentence length and word complexity</a:t>
            </a:r>
          </a:p>
          <a:p>
            <a:pPr marL="76200" indent="0" algn="just">
              <a:buNone/>
            </a:pPr>
            <a:r>
              <a:rPr lang="en-IN" dirty="0"/>
              <a:t>Output format:</a:t>
            </a:r>
          </a:p>
          <a:p>
            <a:pPr marL="76200" indent="0" algn="just">
              <a:buNone/>
            </a:pPr>
            <a:r>
              <a:rPr lang="en-IN" dirty="0"/>
              <a:t>G12 </a:t>
            </a:r>
            <a:r>
              <a:rPr lang="en-IN" dirty="0">
                <a:sym typeface="Wingdings" panose="05000000000000000000" pitchFamily="2" charset="2"/>
              </a:rPr>
              <a:t> G8    (G12=hard G8=easy)</a:t>
            </a:r>
            <a:endParaRPr lang="en-IN" dirty="0"/>
          </a:p>
        </p:txBody>
      </p:sp>
      <p:pic>
        <p:nvPicPr>
          <p:cNvPr id="165" name="Google Shape;165;p12" descr="About Us | Karunya Institute of Technology and Sciences | NAAC A++  Accredited | Best University"/>
          <p:cNvPicPr preferRelativeResize="0"/>
          <p:nvPr/>
        </p:nvPicPr>
        <p:blipFill rotWithShape="1">
          <a:blip r:embed="rId3">
            <a:alphaModFix/>
          </a:blip>
          <a:srcRect/>
          <a:stretch/>
        </p:blipFill>
        <p:spPr>
          <a:xfrm>
            <a:off x="7696200" y="105471"/>
            <a:ext cx="1352756" cy="128983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2">
          <a:extLst>
            <a:ext uri="{FF2B5EF4-FFF2-40B4-BE49-F238E27FC236}">
              <a16:creationId xmlns:a16="http://schemas.microsoft.com/office/drawing/2014/main" id="{77523C73-0AAF-03A5-F412-C3F864E14EA6}"/>
            </a:ext>
          </a:extLst>
        </p:cNvPr>
        <p:cNvGrpSpPr/>
        <p:nvPr/>
      </p:nvGrpSpPr>
      <p:grpSpPr>
        <a:xfrm>
          <a:off x="0" y="0"/>
          <a:ext cx="0" cy="0"/>
          <a:chOff x="0" y="0"/>
          <a:chExt cx="0" cy="0"/>
        </a:xfrm>
      </p:grpSpPr>
      <p:sp>
        <p:nvSpPr>
          <p:cNvPr id="163" name="Google Shape;163;p12">
            <a:extLst>
              <a:ext uri="{FF2B5EF4-FFF2-40B4-BE49-F238E27FC236}">
                <a16:creationId xmlns:a16="http://schemas.microsoft.com/office/drawing/2014/main" id="{6A5D383D-4E95-C48D-E34E-A4F486DB44F9}"/>
              </a:ext>
            </a:extLst>
          </p:cNvPr>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2400"/>
              <a:buFont typeface="Times New Roman"/>
              <a:buNone/>
            </a:pPr>
            <a:r>
              <a:rPr lang="en-IN" sz="2400" b="1" dirty="0">
                <a:latin typeface="Times New Roman"/>
                <a:ea typeface="Times New Roman"/>
                <a:cs typeface="Times New Roman"/>
                <a:sym typeface="Times New Roman"/>
              </a:rPr>
              <a:t>CONCLUSION</a:t>
            </a:r>
            <a:br>
              <a:rPr lang="en-IN" sz="2400" b="1" dirty="0">
                <a:latin typeface="Times New Roman"/>
                <a:ea typeface="Times New Roman"/>
                <a:cs typeface="Times New Roman"/>
                <a:sym typeface="Times New Roman"/>
              </a:rPr>
            </a:br>
            <a:endParaRPr sz="2400" b="1" dirty="0"/>
          </a:p>
        </p:txBody>
      </p:sp>
      <p:pic>
        <p:nvPicPr>
          <p:cNvPr id="165" name="Google Shape;165;p12" descr="About Us | Karunya Institute of Technology and Sciences | NAAC A++  Accredited | Best University">
            <a:extLst>
              <a:ext uri="{FF2B5EF4-FFF2-40B4-BE49-F238E27FC236}">
                <a16:creationId xmlns:a16="http://schemas.microsoft.com/office/drawing/2014/main" id="{535701D2-FE2D-8F9C-9F19-CAFE1B1A9010}"/>
              </a:ext>
            </a:extLst>
          </p:cNvPr>
          <p:cNvPicPr preferRelativeResize="0"/>
          <p:nvPr/>
        </p:nvPicPr>
        <p:blipFill rotWithShape="1">
          <a:blip r:embed="rId3">
            <a:alphaModFix/>
          </a:blip>
          <a:srcRect/>
          <a:stretch/>
        </p:blipFill>
        <p:spPr>
          <a:xfrm>
            <a:off x="7696200" y="105471"/>
            <a:ext cx="1352756" cy="1289837"/>
          </a:xfrm>
          <a:prstGeom prst="rect">
            <a:avLst/>
          </a:prstGeom>
          <a:noFill/>
          <a:ln>
            <a:noFill/>
          </a:ln>
        </p:spPr>
      </p:pic>
      <p:sp>
        <p:nvSpPr>
          <p:cNvPr id="5" name="Text Placeholder 4">
            <a:extLst>
              <a:ext uri="{FF2B5EF4-FFF2-40B4-BE49-F238E27FC236}">
                <a16:creationId xmlns:a16="http://schemas.microsoft.com/office/drawing/2014/main" id="{9EF6D0C9-A649-6B19-5F98-584C9D00D6A0}"/>
              </a:ext>
            </a:extLst>
          </p:cNvPr>
          <p:cNvSpPr>
            <a:spLocks noGrp="1"/>
          </p:cNvSpPr>
          <p:nvPr>
            <p:ph type="body" idx="1"/>
          </p:nvPr>
        </p:nvSpPr>
        <p:spPr>
          <a:xfrm>
            <a:off x="457200" y="1600200"/>
            <a:ext cx="7388352" cy="4525963"/>
          </a:xfrm>
        </p:spPr>
        <p:txBody>
          <a:bodyPr>
            <a:normAutofit/>
          </a:bodyPr>
          <a:lstStyle/>
          <a:p>
            <a:pPr marL="114300" indent="0" algn="just">
              <a:buNone/>
            </a:pPr>
            <a:r>
              <a:rPr lang="en-US" sz="2400" dirty="0"/>
              <a:t>The Prompt Fixer system effectively enhances the quality of user prompts by improving clarity, structure, and context while preserving the original intent. By integrating machine learning models, transformer-based optimization, and safety mechanisms, the system ensures reliable and secure interactions with large language models. The results demonstrate improved prompt effectiveness and overall system performance, making it a practical solution for real-world AI applications.</a:t>
            </a:r>
            <a:endParaRPr lang="en-IN" sz="2400" dirty="0"/>
          </a:p>
        </p:txBody>
      </p:sp>
    </p:spTree>
    <p:extLst>
      <p:ext uri="{BB962C8B-B14F-4D97-AF65-F5344CB8AC3E}">
        <p14:creationId xmlns:p14="http://schemas.microsoft.com/office/powerpoint/2010/main" val="29669056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13"/>
          <p:cNvSpPr txBox="1">
            <a:spLocks noGrp="1"/>
          </p:cNvSpPr>
          <p:nvPr>
            <p:ph type="title"/>
          </p:nvPr>
        </p:nvSpPr>
        <p:spPr>
          <a:xfrm>
            <a:off x="0" y="105471"/>
            <a:ext cx="8229600" cy="292926"/>
          </a:xfrm>
          <a:prstGeom prst="rect">
            <a:avLst/>
          </a:prstGeom>
          <a:noFill/>
          <a:ln>
            <a:noFill/>
          </a:ln>
        </p:spPr>
        <p:txBody>
          <a:bodyPr spcFirstLastPara="1" wrap="square" lIns="91425" tIns="45700" rIns="91425" bIns="45700" anchor="ctr" anchorCtr="0">
            <a:normAutofit fontScale="90000"/>
          </a:bodyPr>
          <a:lstStyle/>
          <a:p>
            <a:pPr marL="0" lvl="0" indent="0" algn="l" rtl="0">
              <a:spcBef>
                <a:spcPts val="0"/>
              </a:spcBef>
              <a:spcAft>
                <a:spcPts val="0"/>
              </a:spcAft>
              <a:buClr>
                <a:schemeClr val="dk1"/>
              </a:buClr>
              <a:buSzPts val="2400"/>
              <a:buFont typeface="Times New Roman"/>
              <a:buNone/>
            </a:pPr>
            <a:r>
              <a:rPr lang="en-IN" sz="2400" b="1" dirty="0">
                <a:latin typeface="Times New Roman"/>
                <a:ea typeface="Times New Roman"/>
                <a:cs typeface="Times New Roman"/>
                <a:sym typeface="Times New Roman"/>
              </a:rPr>
              <a:t>OUTPUT-SCREENSHOTS</a:t>
            </a:r>
            <a:endParaRPr sz="2400" b="1" dirty="0"/>
          </a:p>
        </p:txBody>
      </p:sp>
      <p:pic>
        <p:nvPicPr>
          <p:cNvPr id="171" name="Google Shape;171;p13" descr="About Us | Karunya Institute of Technology and Sciences | NAAC A++  Accredited | Best University"/>
          <p:cNvPicPr preferRelativeResize="0"/>
          <p:nvPr/>
        </p:nvPicPr>
        <p:blipFill rotWithShape="1">
          <a:blip r:embed="rId3">
            <a:alphaModFix/>
          </a:blip>
          <a:srcRect/>
          <a:stretch/>
        </p:blipFill>
        <p:spPr>
          <a:xfrm>
            <a:off x="7696200" y="105471"/>
            <a:ext cx="1352756" cy="1289837"/>
          </a:xfrm>
          <a:prstGeom prst="rect">
            <a:avLst/>
          </a:prstGeom>
          <a:noFill/>
          <a:ln>
            <a:noFill/>
          </a:ln>
        </p:spPr>
      </p:pic>
      <p:pic>
        <p:nvPicPr>
          <p:cNvPr id="4" name="Picture 3">
            <a:extLst>
              <a:ext uri="{FF2B5EF4-FFF2-40B4-BE49-F238E27FC236}">
                <a16:creationId xmlns:a16="http://schemas.microsoft.com/office/drawing/2014/main" id="{CB9CBE4A-078B-DC6A-00E0-98C82F81E69F}"/>
              </a:ext>
            </a:extLst>
          </p:cNvPr>
          <p:cNvPicPr>
            <a:picLocks noChangeAspect="1"/>
          </p:cNvPicPr>
          <p:nvPr/>
        </p:nvPicPr>
        <p:blipFill>
          <a:blip r:embed="rId4"/>
          <a:stretch>
            <a:fillRect/>
          </a:stretch>
        </p:blipFill>
        <p:spPr>
          <a:xfrm>
            <a:off x="905256" y="3075133"/>
            <a:ext cx="5586984" cy="3004860"/>
          </a:xfrm>
          <a:prstGeom prst="rect">
            <a:avLst/>
          </a:prstGeom>
        </p:spPr>
      </p:pic>
      <p:pic>
        <p:nvPicPr>
          <p:cNvPr id="6" name="Picture 5">
            <a:extLst>
              <a:ext uri="{FF2B5EF4-FFF2-40B4-BE49-F238E27FC236}">
                <a16:creationId xmlns:a16="http://schemas.microsoft.com/office/drawing/2014/main" id="{9590F693-7ED7-0949-28C8-5C70B651619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05256" y="599584"/>
            <a:ext cx="5586984" cy="247554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588</TotalTime>
  <Words>726</Words>
  <Application>Microsoft Office PowerPoint</Application>
  <PresentationFormat>On-screen Show (4:3)</PresentationFormat>
  <Paragraphs>79</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ALGORITHMS USED</vt:lpstr>
      <vt:lpstr>PROPOSED  SYSTEM ARCHITECTURE   </vt:lpstr>
      <vt:lpstr>MODULE  DESCRIPTION   </vt:lpstr>
      <vt:lpstr>Evaluation Metrics </vt:lpstr>
      <vt:lpstr>CONCLUSION </vt:lpstr>
      <vt:lpstr>OUTPUT-SCREENSHOTS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HP</dc:creator>
  <cp:lastModifiedBy>M Dhanush</cp:lastModifiedBy>
  <cp:revision>6</cp:revision>
  <dcterms:created xsi:type="dcterms:W3CDTF">2006-08-16T00:00:00Z</dcterms:created>
  <dcterms:modified xsi:type="dcterms:W3CDTF">2026-04-28T11:03:16Z</dcterms:modified>
</cp:coreProperties>
</file>